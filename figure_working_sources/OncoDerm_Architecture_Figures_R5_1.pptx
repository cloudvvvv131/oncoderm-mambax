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412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14173200" cy="347472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181C"/>
                </a:solidFill>
                <a:latin typeface="DejaVu Sans"/>
              </a:rPr>
              <a:t>A  Development and fixed-model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49808"/>
            <a:ext cx="27889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81C"/>
                </a:solidFill>
                <a:latin typeface="DejaVu Sans"/>
              </a:rPr>
              <a:t>HAM10000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181C"/>
                </a:solidFill>
                <a:latin typeface="DejaVu Sans"/>
              </a:rPr>
              <a:t>Train 6,982 | Val 1,513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181C"/>
                </a:solidFill>
                <a:latin typeface="DejaVu Sans"/>
              </a:rPr>
              <a:t>Internal test 1,520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181C"/>
                </a:solidFill>
                <a:latin typeface="DejaVu Sans"/>
              </a:rPr>
              <a:t>Lesion-grouped split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749808"/>
            <a:ext cx="29260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181C"/>
                </a:solidFill>
                <a:latin typeface="DejaVu Sans"/>
              </a:rPr>
              <a:t>OncoDerm B2 and B6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Three training seeds each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Six selected checkpoints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Fixed weights and cutoffs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621792"/>
            <a:ext cx="644652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81C"/>
                </a:solidFill>
                <a:latin typeface="DejaVu Sans"/>
              </a:rPr>
              <a:t>SIIM–ISIC 2020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181C"/>
                </a:solidFill>
                <a:latin typeface="DejaVu Sans"/>
              </a:rPr>
              <a:t>33,126 images | 2,056 patients | 584 melanoma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181C"/>
                </a:solidFill>
                <a:latin typeface="DejaVu Sans"/>
              </a:rPr>
              <a:t>Actual age/sex/site versus structured missing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37943"/>
            <a:ext cx="6446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8181C"/>
                </a:solidFill>
                <a:latin typeface="DejaVu Sans"/>
              </a:rPr>
              <a:t>Derm7pt: additional evaluation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8181C"/>
                </a:solidFill>
                <a:latin typeface="DejaVu Sans"/>
              </a:rPr>
              <a:t>1,011 cases | 252 melanoma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8181C"/>
                </a:solidFill>
                <a:latin typeface="DejaVu Sans"/>
              </a:rPr>
              <a:t>Sex/site available; age missing | Case-cluster analysis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1490472"/>
            <a:ext cx="594360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1490472"/>
            <a:ext cx="566928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150608" y="1097280"/>
            <a:ext cx="0" cy="393192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50608" y="1097280"/>
            <a:ext cx="621792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50608" y="1490472"/>
            <a:ext cx="0" cy="841248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50608" y="2331720"/>
            <a:ext cx="621792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" y="2487168"/>
            <a:ext cx="6400800" cy="365760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181C"/>
                </a:solidFill>
                <a:latin typeface="DejaVu Sans"/>
              </a:rPr>
              <a:t>Controlled studies: mask-loss pairs and regional readout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" y="3063240"/>
            <a:ext cx="14127480" cy="0"/>
          </a:xfrm>
          <a:prstGeom prst="line">
            <a:avLst/>
          </a:prstGeom>
          <a:ln w="16510">
            <a:solidFill>
              <a:srgbClr val="646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2880" y="3227832"/>
            <a:ext cx="10698480" cy="347472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181C"/>
                </a:solidFill>
                <a:latin typeface="DejaVu Sans"/>
              </a:rPr>
              <a:t>B  Complete B6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3227832"/>
            <a:ext cx="3291840" cy="347472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181C"/>
                </a:solidFill>
                <a:latin typeface="DejaVu Sans"/>
              </a:rPr>
              <a:t>C  Model use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71632" y="3182112"/>
            <a:ext cx="0" cy="4974336"/>
          </a:xfrm>
          <a:prstGeom prst="line">
            <a:avLst/>
          </a:prstGeom>
          <a:ln w="16510">
            <a:solidFill>
              <a:srgbClr val="646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" y="4041648"/>
            <a:ext cx="1143000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8181C"/>
                </a:solidFill>
                <a:latin typeface="DejaVu Sans"/>
              </a:rPr>
              <a:t>Image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8181C"/>
                </a:solidFill>
                <a:latin typeface="DejaVu Sans"/>
              </a:rPr>
              <a:t>224 × 224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3959352"/>
            <a:ext cx="150876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8181C"/>
                </a:solidFill>
                <a:latin typeface="DejaVu Sans"/>
              </a:rPr>
              <a:t>Pretrained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8181C"/>
                </a:solidFill>
                <a:latin typeface="DejaVu Sans"/>
              </a:rPr>
              <a:t>ConvNeXt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8181C"/>
                </a:solidFill>
                <a:latin typeface="DejaVu Sans"/>
              </a:rPr>
              <a:t>Tiny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712463"/>
            <a:ext cx="2221992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181C"/>
                </a:solidFill>
                <a:latin typeface="DejaVu Sans"/>
              </a:rPr>
              <a:t>Stage 3 + CSSA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181C"/>
                </a:solidFill>
                <a:latin typeface="DejaVu Sans"/>
              </a:rPr>
              <a:t>384 → 128 → 384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181C"/>
                </a:solidFill>
                <a:latin typeface="DejaVu Sans"/>
              </a:rPr>
              <a:t>Project to 768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5047488"/>
            <a:ext cx="2221992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181C"/>
                </a:solidFill>
                <a:latin typeface="DejaVu Sans"/>
              </a:rPr>
              <a:t>Stage 4 + CSSA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181C"/>
                </a:solidFill>
                <a:latin typeface="DejaVu Sans"/>
              </a:rPr>
              <a:t>768 → 256 → 768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181C"/>
                </a:solidFill>
                <a:latin typeface="DejaVu Sans"/>
              </a:rPr>
              <a:t>Resize to 14 × 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4343400"/>
            <a:ext cx="1307592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181C"/>
                </a:solidFill>
                <a:latin typeface="DejaVu Sans"/>
              </a:rPr>
              <a:t>Concat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181C"/>
                </a:solidFill>
                <a:latin typeface="DejaVu Sans"/>
              </a:rPr>
              <a:t>1536 → 768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181C"/>
                </a:solidFill>
                <a:latin typeface="DejaVu Sans"/>
              </a:rPr>
              <a:t>Conv–BN–SiLU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4343400"/>
            <a:ext cx="114300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81C"/>
                </a:solidFill>
                <a:latin typeface="DejaVu Sans"/>
              </a:rPr>
              <a:t>GAP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81C"/>
                </a:solidFill>
                <a:latin typeface="DejaVu Sans"/>
              </a:rPr>
              <a:t>AttnPool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81C"/>
                </a:solidFill>
                <a:latin typeface="DejaVu Sans"/>
              </a:rPr>
              <a:t>(0.5 each)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4453128"/>
            <a:ext cx="987552" cy="704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5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81C"/>
                </a:solidFill>
                <a:latin typeface="DejaVu Sans"/>
              </a:rPr>
              <a:t>CMGF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5596128"/>
            <a:ext cx="1490472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8181C"/>
                </a:solidFill>
                <a:latin typeface="DejaVu Sans"/>
              </a:rPr>
              <a:t>7-class head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6492240"/>
            <a:ext cx="1490472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181C"/>
                </a:solidFill>
                <a:latin typeface="DejaVu Sans"/>
              </a:rPr>
              <a:t>Melanoma head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17320" y="4425696"/>
            <a:ext cx="365760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91840" y="4425696"/>
            <a:ext cx="164592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456432" y="4233672"/>
            <a:ext cx="0" cy="192024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456432" y="4233672"/>
            <a:ext cx="201168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456432" y="4425696"/>
            <a:ext cx="0" cy="1152144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456432" y="5577840"/>
            <a:ext cx="201168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79592" y="4233672"/>
            <a:ext cx="201168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80760" y="4233672"/>
            <a:ext cx="0" cy="374904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80760" y="4608576"/>
            <a:ext cx="210312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79592" y="5577840"/>
            <a:ext cx="201168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080760" y="5093208"/>
            <a:ext cx="0" cy="484632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80760" y="5093208"/>
            <a:ext cx="210312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98664" y="4837176"/>
            <a:ext cx="411480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53144" y="4837176"/>
            <a:ext cx="356616" cy="0"/>
          </a:xfrm>
          <a:prstGeom prst="line">
            <a:avLst/>
          </a:prstGeom>
          <a:ln w="16510">
            <a:solidFill>
              <a:srgbClr val="2A5D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003536" y="5157216"/>
            <a:ext cx="0" cy="438912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003536" y="5358384"/>
            <a:ext cx="594360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597896" y="5358384"/>
            <a:ext cx="0" cy="1453896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0451592" y="6812280"/>
            <a:ext cx="146304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629400" y="6547104"/>
            <a:ext cx="1883664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5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Clinical encoder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22 → 64 → 768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73952" y="7479792"/>
            <a:ext cx="2221992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5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C"/>
                </a:solidFill>
                <a:latin typeface="DejaVu Sans"/>
              </a:rPr>
              <a:t>Age | sex | site | missingness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7589520" y="7150608"/>
            <a:ext cx="0" cy="329184"/>
          </a:xfrm>
          <a:prstGeom prst="line">
            <a:avLst/>
          </a:prstGeom>
          <a:ln w="16510">
            <a:solidFill>
              <a:srgbClr val="2A5D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513064" y="6848856"/>
            <a:ext cx="210312" cy="0"/>
          </a:xfrm>
          <a:prstGeom prst="line">
            <a:avLst/>
          </a:prstGeom>
          <a:ln w="16510">
            <a:solidFill>
              <a:srgbClr val="2A5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723376" y="5468112"/>
            <a:ext cx="0" cy="1380744"/>
          </a:xfrm>
          <a:prstGeom prst="line">
            <a:avLst/>
          </a:prstGeom>
          <a:ln w="16510">
            <a:solidFill>
              <a:srgbClr val="2A5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723376" y="5468112"/>
            <a:ext cx="1014984" cy="0"/>
          </a:xfrm>
          <a:prstGeom prst="line">
            <a:avLst/>
          </a:prstGeom>
          <a:ln w="16510">
            <a:solidFill>
              <a:srgbClr val="2A5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738360" y="5157216"/>
            <a:ext cx="0" cy="310896"/>
          </a:xfrm>
          <a:prstGeom prst="line">
            <a:avLst/>
          </a:prstGeom>
          <a:ln w="16510">
            <a:solidFill>
              <a:srgbClr val="2A5D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274320" y="6016752"/>
            <a:ext cx="150876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9F4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8181C"/>
                </a:solidFill>
                <a:latin typeface="DejaVu Sans"/>
              </a:rPr>
              <a:t>ISIC 2018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8181C"/>
                </a:solidFill>
                <a:latin typeface="DejaVu Sans"/>
              </a:rPr>
              <a:t>auxiliary image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1024128" y="5257800"/>
            <a:ext cx="0" cy="758952"/>
          </a:xfrm>
          <a:prstGeom prst="line">
            <a:avLst/>
          </a:prstGeom>
          <a:ln w="16510">
            <a:solidFill>
              <a:srgbClr val="9F4A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24128" y="5257800"/>
            <a:ext cx="1216152" cy="0"/>
          </a:xfrm>
          <a:prstGeom prst="line">
            <a:avLst/>
          </a:prstGeom>
          <a:ln w="16510">
            <a:solidFill>
              <a:srgbClr val="9F4A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240280" y="4892040"/>
            <a:ext cx="0" cy="365760"/>
          </a:xfrm>
          <a:prstGeom prst="line">
            <a:avLst/>
          </a:prstGeom>
          <a:ln w="16510">
            <a:solidFill>
              <a:srgbClr val="9F4A1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2194560" y="6812280"/>
            <a:ext cx="16002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9F4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181C"/>
                </a:solidFill>
                <a:latin typeface="DejaVu Sans"/>
              </a:rPr>
              <a:t>LPAH mask head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940296" y="5330952"/>
            <a:ext cx="0" cy="1014984"/>
          </a:xfrm>
          <a:prstGeom prst="line">
            <a:avLst/>
          </a:prstGeom>
          <a:ln w="16510">
            <a:solidFill>
              <a:srgbClr val="9F4A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2999232" y="6345936"/>
            <a:ext cx="3941064" cy="0"/>
          </a:xfrm>
          <a:prstGeom prst="line">
            <a:avLst/>
          </a:prstGeom>
          <a:ln w="16510">
            <a:solidFill>
              <a:srgbClr val="9F4A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999232" y="6345936"/>
            <a:ext cx="0" cy="466344"/>
          </a:xfrm>
          <a:prstGeom prst="line">
            <a:avLst/>
          </a:prstGeom>
          <a:ln w="16510">
            <a:solidFill>
              <a:srgbClr val="9F4A1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4178808" y="6812280"/>
            <a:ext cx="15087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9F4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181C"/>
                </a:solidFill>
                <a:latin typeface="DejaVu Sans"/>
              </a:rPr>
              <a:t>BCE + soft Dice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794760" y="7114032"/>
            <a:ext cx="384048" cy="0"/>
          </a:xfrm>
          <a:prstGeom prst="line">
            <a:avLst/>
          </a:prstGeom>
          <a:ln w="16510">
            <a:solidFill>
              <a:srgbClr val="9F4A1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297680" y="7580375"/>
            <a:ext cx="12801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9F4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181C"/>
                </a:solidFill>
                <a:latin typeface="DejaVu Sans"/>
              </a:rPr>
              <a:t>Target mask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4937760" y="7406640"/>
            <a:ext cx="0" cy="173735"/>
          </a:xfrm>
          <a:prstGeom prst="line">
            <a:avLst/>
          </a:prstGeom>
          <a:ln w="16510">
            <a:solidFill>
              <a:srgbClr val="9F4A1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74320" y="7644383"/>
            <a:ext cx="3200400" cy="411480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4A1D"/>
                </a:solidFill>
                <a:latin typeface="DejaVu Sans"/>
              </a:rPr>
              <a:t>Shared visual pathway; auxiliary supervision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091672" y="3886200"/>
            <a:ext cx="31363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8181C"/>
                </a:solidFill>
                <a:latin typeface="DejaVu Sans"/>
              </a:rPr>
              <a:t>Training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8181C"/>
                </a:solidFill>
                <a:latin typeface="DejaVu Sans"/>
              </a:rPr>
              <a:t>HAM image–clinical inputs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8181C"/>
                </a:solidFill>
                <a:latin typeface="DejaVu Sans"/>
              </a:rPr>
              <a:t>ISIC image–mask stream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8181C"/>
                </a:solidFill>
                <a:latin typeface="DejaVu Sans"/>
              </a:rPr>
              <a:t>Diagnostic + mask losses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8181C"/>
                </a:solidFill>
                <a:latin typeface="DejaVu Sans"/>
              </a:rPr>
              <a:t>Consistency + attention losses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091672" y="6053328"/>
            <a:ext cx="31363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8181C"/>
                </a:solidFill>
                <a:latin typeface="DejaVu Sans"/>
              </a:rPr>
              <a:t>Diagnostic inference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C"/>
                </a:solidFill>
                <a:latin typeface="DejaVu Sans"/>
              </a:rPr>
              <a:t>Dermoscopy + clinical vector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C"/>
                </a:solidFill>
                <a:latin typeface="DejaVu Sans"/>
              </a:rPr>
              <a:t>Seven-class probabilities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C"/>
                </a:solidFill>
                <a:latin typeface="DejaVu Sans"/>
              </a:rPr>
              <a:t>Melanoma probability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C"/>
                </a:solidFill>
                <a:latin typeface="DejaVu Sans"/>
              </a:rPr>
              <a:t>No supplied lesion mask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4173200" cy="347472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181C"/>
                </a:solidFill>
                <a:latin typeface="DejaVu Sans"/>
              </a:rPr>
              <a:t>A  CSSA residual adapter and cross-stage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30352"/>
            <a:ext cx="13990320" cy="365760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181C"/>
                </a:solidFill>
                <a:latin typeface="DejaVu Sans"/>
              </a:rPr>
              <a:t>Stage 3: 384 → 128 → 384 at 14 × 14     |     Stage 4: 768 → 256 → 768 at 7 ×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508760"/>
            <a:ext cx="6858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181C"/>
                </a:solidFill>
                <a:latin typeface="DejaVu Sans"/>
              </a:rPr>
              <a:t>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61872" y="1280160"/>
            <a:ext cx="13716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181C"/>
                </a:solidFill>
                <a:latin typeface="DejaVu Sans"/>
              </a:rPr>
              <a:t>P_in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181C"/>
                </a:solidFill>
                <a:latin typeface="DejaVu Sans"/>
              </a:rPr>
              <a:t>1×1 + BN + SiLU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181C"/>
                </a:solidFill>
                <a:latin typeface="DejaVu Sans"/>
              </a:rPr>
              <a:t>F → 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54096" y="987552"/>
            <a:ext cx="1965960" cy="704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181C"/>
                </a:solidFill>
                <a:latin typeface="DejaVu Sans"/>
              </a:rPr>
              <a:t>Local 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181C"/>
                </a:solidFill>
                <a:latin typeface="DejaVu Sans"/>
              </a:rPr>
              <a:t>DW 3×3 + BN + SiLU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54096" y="1965960"/>
            <a:ext cx="1965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8181C"/>
                </a:solidFill>
                <a:latin typeface="DejaVu Sans"/>
              </a:rPr>
              <a:t>Axial context 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8181C"/>
                </a:solidFill>
                <a:latin typeface="DejaVu Sans"/>
              </a:rPr>
              <a:t>Row / column DW1d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8181C"/>
                </a:solidFill>
                <a:latin typeface="DejaVu Sans"/>
              </a:rPr>
              <a:t>k = 7; concat + 1×1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22976" y="987552"/>
            <a:ext cx="1645920" cy="704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Attention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σ(1×1(C + L))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371600"/>
            <a:ext cx="1481328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81C"/>
                </a:solidFill>
                <a:latin typeface="DejaVu Sans"/>
              </a:rPr>
              <a:t>Gate Q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81C"/>
                </a:solidFill>
                <a:latin typeface="DejaVu Sans"/>
              </a:rPr>
              <a:t>σ(1×1[L,C,A])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81C"/>
                </a:solidFill>
                <a:latin typeface="DejaVu Sans"/>
              </a:rPr>
              <a:t>2d + 1 → 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8048" y="1371600"/>
            <a:ext cx="1764792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8181C"/>
                </a:solidFill>
                <a:latin typeface="DejaVu Sans"/>
              </a:rPr>
              <a:t>Blend 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8181C"/>
                </a:solidFill>
                <a:latin typeface="DejaVu Sans"/>
              </a:rPr>
              <a:t>Q ⊙ C + (1 − Q) ⊙ 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686032" y="1371600"/>
            <a:ext cx="1325880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181C"/>
                </a:solidFill>
                <a:latin typeface="DejaVu Sans"/>
              </a:rPr>
              <a:t>P_out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181C"/>
                </a:solidFill>
                <a:latin typeface="DejaVu Sans"/>
              </a:rPr>
              <a:t>1×1: d → C_in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304520" y="1371600"/>
            <a:ext cx="1005840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C"/>
                </a:solidFill>
                <a:latin typeface="DejaVu Sans"/>
              </a:rPr>
              <a:t>Add 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C"/>
                </a:solidFill>
                <a:latin typeface="DejaVu Sans"/>
              </a:rPr>
              <a:t>+ γP_out(Z)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C"/>
                </a:solidFill>
                <a:latin typeface="DejaVu Sans"/>
              </a:rPr>
              <a:t>→ F′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" y="1783080"/>
            <a:ext cx="320040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33472" y="1783080"/>
            <a:ext cx="182880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816352" y="1335024"/>
            <a:ext cx="0" cy="448056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16352" y="1335024"/>
            <a:ext cx="237744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16352" y="1783080"/>
            <a:ext cx="0" cy="59436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16352" y="2377440"/>
            <a:ext cx="237744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20056" y="1335024"/>
            <a:ext cx="502920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20056" y="2377440"/>
            <a:ext cx="265176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285232" y="1527048"/>
            <a:ext cx="0" cy="850392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85232" y="1527048"/>
            <a:ext cx="237744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168896" y="1335024"/>
            <a:ext cx="201168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70064" y="1335024"/>
            <a:ext cx="0" cy="265176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70064" y="1600200"/>
            <a:ext cx="265176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0056" y="1152144"/>
            <a:ext cx="219456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239512" y="905256"/>
            <a:ext cx="0" cy="246888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39512" y="905256"/>
            <a:ext cx="2194560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34072" y="905256"/>
            <a:ext cx="0" cy="859536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34072" y="1764792"/>
            <a:ext cx="201168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0056" y="2578608"/>
            <a:ext cx="2404871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424927" y="2093976"/>
            <a:ext cx="0" cy="484632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424927" y="2093976"/>
            <a:ext cx="210313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116568" y="1828800"/>
            <a:ext cx="411480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292840" y="1828800"/>
            <a:ext cx="393192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011912" y="1828800"/>
            <a:ext cx="292608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94360" y="2057400"/>
            <a:ext cx="0" cy="100584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4360" y="3063240"/>
            <a:ext cx="13277088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3807440" y="2313432"/>
            <a:ext cx="64008" cy="749808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020056" y="1005840"/>
            <a:ext cx="146304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166360" y="868680"/>
            <a:ext cx="0" cy="13716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66360" y="868680"/>
            <a:ext cx="4919472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085832" y="868680"/>
            <a:ext cx="0" cy="50292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20056" y="2706624"/>
            <a:ext cx="5650992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71048" y="2313432"/>
            <a:ext cx="0" cy="393192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247120" y="2587752"/>
            <a:ext cx="3200400" cy="292608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181C"/>
                </a:solidFill>
                <a:latin typeface="DejaVu Sans"/>
              </a:rPr>
              <a:t>γ initialized to 0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28600" y="3410712"/>
            <a:ext cx="14036040" cy="0"/>
          </a:xfrm>
          <a:prstGeom prst="line">
            <a:avLst/>
          </a:prstGeom>
          <a:ln w="16510">
            <a:solidFill>
              <a:srgbClr val="646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74320" y="3675887"/>
            <a:ext cx="202996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81C"/>
                </a:solidFill>
                <a:latin typeface="DejaVu Sans"/>
              </a:rPr>
              <a:t>F3′: 384 × 14 × 14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81C"/>
                </a:solidFill>
                <a:latin typeface="DejaVu Sans"/>
              </a:rPr>
              <a:t>Residual output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70048" y="3675887"/>
            <a:ext cx="1645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C"/>
                </a:solidFill>
                <a:latin typeface="DejaVu Sans"/>
              </a:rPr>
              <a:t>P3: 384 → 768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C"/>
                </a:solidFill>
                <a:latin typeface="DejaVu Sans"/>
              </a:rPr>
              <a:t>1×1 projection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4599432"/>
            <a:ext cx="202996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F4′: 768 × 7 × 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Residual output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70048" y="4599432"/>
            <a:ext cx="1645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C"/>
                </a:solidFill>
                <a:latin typeface="DejaVu Sans"/>
              </a:rPr>
              <a:t>Resize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C"/>
                </a:solidFill>
                <a:latin typeface="DejaVu Sans"/>
              </a:rPr>
              <a:t>768 × 14 × 14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64024" y="4142232"/>
            <a:ext cx="187451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8181C"/>
                </a:solidFill>
                <a:latin typeface="DejaVu Sans"/>
              </a:rPr>
              <a:t>Channel concat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8181C"/>
                </a:solidFill>
                <a:latin typeface="DejaVu Sans"/>
              </a:rPr>
              <a:t>1536 × 14 × 14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77456" y="4142232"/>
            <a:ext cx="1892807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C"/>
                </a:solidFill>
                <a:latin typeface="DejaVu Sans"/>
              </a:rPr>
              <a:t>1×1 + BN + SiLU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C"/>
                </a:solidFill>
                <a:latin typeface="DejaVu Sans"/>
              </a:rPr>
              <a:t>768 × 14 × 14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18320" y="4142232"/>
            <a:ext cx="1947672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0.5 GAP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+ 0.5 AttnPool(A)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23192" y="4142232"/>
            <a:ext cx="218541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181C"/>
                </a:solidFill>
                <a:latin typeface="DejaVu Sans"/>
              </a:rPr>
              <a:t>Image vector e_x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181C"/>
                </a:solidFill>
                <a:latin typeface="DejaVu Sans"/>
              </a:rPr>
              <a:t>768 features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304288" y="4005072"/>
            <a:ext cx="365760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304288" y="4928616"/>
            <a:ext cx="365760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15968" y="4005072"/>
            <a:ext cx="201168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17136" y="4005072"/>
            <a:ext cx="0" cy="338328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17136" y="4343400"/>
            <a:ext cx="246888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315968" y="4928616"/>
            <a:ext cx="201168" cy="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517136" y="4608576"/>
            <a:ext cx="0" cy="320040"/>
          </a:xfrm>
          <a:prstGeom prst="line">
            <a:avLst/>
          </a:prstGeom>
          <a:ln w="16510">
            <a:solidFill>
              <a:srgbClr val="2A3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17136" y="4608576"/>
            <a:ext cx="246888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638544" y="4471416"/>
            <a:ext cx="438912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970264" y="4471416"/>
            <a:ext cx="448056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1365992" y="4471416"/>
            <a:ext cx="457200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486400" y="5010912"/>
            <a:ext cx="8595360" cy="365760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A = 0.5[A3 + Resize(A4)]    |    A supplies pooling, sparsity and TV regularization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28600" y="5532120"/>
            <a:ext cx="14036040" cy="0"/>
          </a:xfrm>
          <a:prstGeom prst="line">
            <a:avLst/>
          </a:prstGeom>
          <a:ln w="16510">
            <a:solidFill>
              <a:srgbClr val="646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10312" y="5669280"/>
            <a:ext cx="6720840" cy="347472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181C"/>
                </a:solidFill>
                <a:latin typeface="DejaVu Sans"/>
              </a:rPr>
              <a:t>B  LPAH: training supervision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51775" y="5669280"/>
            <a:ext cx="6766560" cy="347472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181C"/>
                </a:solidFill>
                <a:latin typeface="DejaVu Sans"/>
              </a:rPr>
              <a:t>C  CMGF: clinical conditioning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74320" y="6217920"/>
            <a:ext cx="1965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9F4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8181C"/>
                </a:solidFill>
                <a:latin typeface="DejaVu Sans"/>
              </a:rPr>
              <a:t>Auxiliary image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8181C"/>
                </a:solidFill>
                <a:latin typeface="DejaVu Sans"/>
              </a:rPr>
              <a:t>Shared visual pathway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8181C"/>
                </a:solidFill>
                <a:latin typeface="DejaVu Sans"/>
              </a:rPr>
              <a:t>768 × 14 × 14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569464" y="6217920"/>
            <a:ext cx="1874519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9F4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Mask 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3×3: 768 → 384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1×1: 384 → 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773168" y="6217920"/>
            <a:ext cx="207568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9F4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8181C"/>
                </a:solidFill>
                <a:latin typeface="DejaVu Sans"/>
              </a:rPr>
              <a:t>Predicted mask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8181C"/>
                </a:solidFill>
                <a:latin typeface="DejaVu Sans"/>
              </a:rPr>
              <a:t>Resize to 224 × 224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8181C"/>
                </a:solidFill>
                <a:latin typeface="DejaVu Sans"/>
              </a:rPr>
              <a:t>BCE + soft Dice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240280" y="6638544"/>
            <a:ext cx="329184" cy="0"/>
          </a:xfrm>
          <a:prstGeom prst="line">
            <a:avLst/>
          </a:prstGeom>
          <a:ln w="16510">
            <a:solidFill>
              <a:srgbClr val="9F4A1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43984" y="6638544"/>
            <a:ext cx="329184" cy="0"/>
          </a:xfrm>
          <a:prstGeom prst="line">
            <a:avLst/>
          </a:prstGeom>
          <a:ln w="16510">
            <a:solidFill>
              <a:srgbClr val="9F4A1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74320" y="7168896"/>
            <a:ext cx="3749039" cy="429768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81C"/>
                </a:solidFill>
                <a:latin typeface="DejaVu Sans"/>
              </a:rPr>
              <a:t>One auxiliary batch per HAM batch.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212080" y="7278624"/>
            <a:ext cx="1307592" cy="301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9F4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181C"/>
                </a:solidFill>
                <a:latin typeface="DejaVu Sans"/>
              </a:rPr>
              <a:t>Target mask</a:t>
            </a:r>
          </a:p>
        </p:txBody>
      </p:sp>
      <p:cxnSp>
        <p:nvCxnSpPr>
          <p:cNvPr id="78" name="Connector 77"/>
          <p:cNvCxnSpPr/>
          <p:nvPr/>
        </p:nvCxnSpPr>
        <p:spPr>
          <a:xfrm flipV="1">
            <a:off x="5852160" y="7059168"/>
            <a:ext cx="0" cy="219456"/>
          </a:xfrm>
          <a:prstGeom prst="line">
            <a:avLst/>
          </a:prstGeom>
          <a:ln w="16510">
            <a:solidFill>
              <a:srgbClr val="9F4A1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397496" y="6217920"/>
            <a:ext cx="186537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5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Clinical vector 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22 → 64 → 768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181C"/>
                </a:solidFill>
                <a:latin typeface="DejaVu Sans"/>
              </a:rPr>
              <a:t>Embedding h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01200" y="6217920"/>
            <a:ext cx="21671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5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181C"/>
                </a:solidFill>
                <a:latin typeface="DejaVu Sans"/>
              </a:rPr>
              <a:t>g = σ(Wg h + bg)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181C"/>
                </a:solidFill>
                <a:latin typeface="DejaVu Sans"/>
              </a:rPr>
              <a:t>e = e_x ⊙ (1 + g) + h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2115800" y="6217920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181C"/>
                </a:solidFill>
                <a:latin typeface="DejaVu Sans"/>
              </a:rPr>
              <a:t>Dropout → Linear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181C"/>
                </a:solidFill>
                <a:latin typeface="DejaVu Sans"/>
              </a:rPr>
              <a:t>Seven-class / melanoma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181C"/>
                </a:solidFill>
                <a:latin typeface="DejaVu Sans"/>
              </a:rPr>
              <a:t>Softmax / sigmoid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2920472" y="4800600"/>
            <a:ext cx="0" cy="1225296"/>
          </a:xfrm>
          <a:prstGeom prst="line">
            <a:avLst/>
          </a:prstGeom>
          <a:ln w="16510">
            <a:solidFill>
              <a:srgbClr val="2A5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10689336" y="6025896"/>
            <a:ext cx="2231136" cy="0"/>
          </a:xfrm>
          <a:prstGeom prst="line">
            <a:avLst/>
          </a:prstGeom>
          <a:ln w="16510">
            <a:solidFill>
              <a:srgbClr val="2A5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689336" y="6025896"/>
            <a:ext cx="0" cy="192024"/>
          </a:xfrm>
          <a:prstGeom prst="line">
            <a:avLst/>
          </a:prstGeom>
          <a:ln w="16510">
            <a:solidFill>
              <a:srgbClr val="2A5D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262872" y="6638544"/>
            <a:ext cx="338328" cy="0"/>
          </a:xfrm>
          <a:prstGeom prst="line">
            <a:avLst/>
          </a:prstGeom>
          <a:ln w="16510">
            <a:solidFill>
              <a:srgbClr val="2A5D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1768328" y="6638544"/>
            <a:ext cx="347472" cy="0"/>
          </a:xfrm>
          <a:prstGeom prst="line">
            <a:avLst/>
          </a:prstGeom>
          <a:ln w="16510">
            <a:solidFill>
              <a:srgbClr val="2A3A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7388352" y="7187184"/>
            <a:ext cx="6839712" cy="438912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181C"/>
                </a:solidFill>
                <a:latin typeface="DejaVu Sans"/>
              </a:rPr>
              <a:t>s: age/100, sex, site and missingness. Structured missing input is not all zero.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28600" y="7708392"/>
            <a:ext cx="14036040" cy="0"/>
          </a:xfrm>
          <a:prstGeom prst="line">
            <a:avLst/>
          </a:prstGeom>
          <a:ln w="16510">
            <a:solidFill>
              <a:srgbClr val="646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228600" y="7845552"/>
            <a:ext cx="13990320" cy="411480"/>
          </a:xfrm>
          <a:prstGeom prst="rect">
            <a:avLst/>
          </a:prstGeom>
          <a:noFill/>
        </p:spPr>
        <p:txBody>
          <a:bodyPr wrap="none" lIns="36576" rIns="36576" tIns="22860" bIns="2286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181C"/>
                </a:solidFill>
                <a:latin typeface="DejaVu Sans"/>
              </a:rPr>
              <a:t>D  B6 training: AdamW 3×10⁻⁵ / 3×10⁻⁴ | batches 48 / 32 | warm-up 5, cosine, max 80 | patience 15 | validation macro-F1, MEL-AUC tie-break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OncoDerm-MambaX: R5.1 Figure 1 and Supplementary Figure S1</dc:title>
  <dc:subject>Corrected manuscript diagrams; unchanged model implementation and experimental results</dc:subject>
  <dc:creator>OncoDerm manuscript authors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